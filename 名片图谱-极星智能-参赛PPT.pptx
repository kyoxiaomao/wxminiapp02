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23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274320"/>
            <a:ext cx="3108960" cy="4572000"/>
          </a:xfrm>
          <a:prstGeom prst="roundRect">
            <a:avLst>
              <a:gd name="adj" fmla="val 5882"/>
            </a:avLst>
          </a:prstGeom>
          <a:solidFill>
            <a:srgbClr val="7D3C98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182880" y="4160520"/>
            <a:ext cx="914400" cy="914400"/>
          </a:xfrm>
          <a:prstGeom prst="ellipse">
            <a:avLst/>
          </a:prstGeom>
          <a:solidFill>
            <a:srgbClr val="7D3C98">
              <a:alpha val="32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640080" y="566928"/>
            <a:ext cx="3246120" cy="402336"/>
          </a:xfrm>
          <a:prstGeom prst="roundRect">
            <a:avLst>
              <a:gd name="adj" fmla="val 18182"/>
            </a:avLst>
          </a:prstGeom>
          <a:solidFill>
            <a:srgbClr val="7D3C98"/>
          </a:solidFill>
        </p:spPr>
      </p:sp>
      <p:sp>
        <p:nvSpPr>
          <p:cNvPr id="5" name="Text 3"/>
          <p:cNvSpPr/>
          <p:nvPr/>
        </p:nvSpPr>
        <p:spPr>
          <a:xfrm>
            <a:off x="640080" y="566928"/>
            <a:ext cx="324612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腾讯小程序开发大赛 · 参赛作品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207008"/>
            <a:ext cx="5303520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kern="0" spc="25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《名片图谱》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58368" y="2157984"/>
            <a:ext cx="1234440" cy="64008"/>
          </a:xfrm>
          <a:prstGeom prst="rect">
            <a:avLst/>
          </a:prstGeom>
          <a:solidFill>
            <a:srgbClr val="F5C56B"/>
          </a:solidFill>
        </p:spPr>
      </p:sp>
      <p:sp>
        <p:nvSpPr>
          <p:cNvPr id="8" name="Text 6"/>
          <p:cNvSpPr/>
          <p:nvPr/>
        </p:nvSpPr>
        <p:spPr>
          <a:xfrm>
            <a:off x="640080" y="237744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kern="0" spc="100" dirty="0">
                <a:solidFill>
                  <a:srgbClr val="E4D3E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永不过时的电子名片与关系图谱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40080" y="2852928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F5C5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一张名片，一份图谱，让关系永远是最新的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4663440" cy="960120"/>
          </a:xfrm>
          <a:prstGeom prst="roundRect">
            <a:avLst>
              <a:gd name="adj" fmla="val 9524"/>
            </a:avLst>
          </a:prstGeom>
          <a:solidFill>
            <a:srgbClr val="7D3C98">
              <a:alpha val="78000"/>
            </a:srgbClr>
          </a:solidFill>
          <a:ln w="12700">
            <a:solidFill>
              <a:srgbClr val="E4D3EE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639312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 · 极星智能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4005072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4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爸爸带着姐姐和弟弟的 AI 学习小组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457200"/>
            <a:ext cx="2560320" cy="4251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</p:spPr>
      </p:sp>
      <p:pic>
        <p:nvPicPr>
          <p:cNvPr id="14" name="Image 0" descr="d:/WXminiapp/miniapp02/docs/ppt-assets/shot-family-graph_1128x244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0774" y="603504"/>
            <a:ext cx="1823173" cy="3950208"/>
          </a:xfrm>
          <a:prstGeom prst="rect">
            <a:avLst/>
          </a:prstGeom>
        </p:spPr>
      </p:pic>
      <p:sp>
        <p:nvSpPr>
          <p:cNvPr id="15" name="AILabel"/>
          <p:cNvSpPr txBox="1"/>
          <p:nvPr/>
        </p:nvSpPr>
        <p:spPr>
          <a:xfrm>
            <a:off x="6564000" y="45635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rtlCol="0" anchor="ctr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 panose="020B0604020202020204"/>
                <a:ea typeface="宋体" panose="02010600030101010101" pitchFamily="2" charset="-122"/>
              </a:rPr>
              <a:t>含 AI 生成</a:t>
            </a:r>
            <a:endParaRPr lang="zh-CN" sz="1400" b="1" dirty="0">
              <a:solidFill>
                <a:srgbClr val="FFFFFF"/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7D3C98"/>
          </a:solidFill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3B2A4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团队情况 · 极星智能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D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爸爸带着姐姐和弟弟学习 AI——把学 AI 变成一次真实的软件工程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26517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8DC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16736"/>
            <a:ext cx="64008" cy="1078992"/>
          </a:xfrm>
          <a:prstGeom prst="rect">
            <a:avLst/>
          </a:prstGeom>
          <a:solidFill>
            <a:srgbClr val="7D3C98"/>
          </a:solidFill>
        </p:spPr>
      </p:sp>
      <p:sp>
        <p:nvSpPr>
          <p:cNvPr id="7" name="Text 5"/>
          <p:cNvSpPr/>
          <p:nvPr/>
        </p:nvSpPr>
        <p:spPr>
          <a:xfrm>
            <a:off x="658368" y="1353312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B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爸爸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1755648"/>
            <a:ext cx="228600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D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总体设计 · 云开发与数据架构 · 代码审查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207008"/>
            <a:ext cx="26517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8DC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316736"/>
            <a:ext cx="64008" cy="1078992"/>
          </a:xfrm>
          <a:prstGeom prst="rect">
            <a:avLst/>
          </a:prstGeom>
          <a:solidFill>
            <a:srgbClr val="D68910"/>
          </a:solidFill>
        </p:spPr>
      </p:sp>
      <p:sp>
        <p:nvSpPr>
          <p:cNvPr id="11" name="Text 9"/>
          <p:cNvSpPr/>
          <p:nvPr/>
        </p:nvSpPr>
        <p:spPr>
          <a:xfrm>
            <a:off x="3447288" y="1353312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B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姐姐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47288" y="1755648"/>
            <a:ext cx="228600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D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产品设计 · 界面与文案 · 体验验收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207008"/>
            <a:ext cx="26517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8DC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316736"/>
            <a:ext cx="64008" cy="1078992"/>
          </a:xfrm>
          <a:prstGeom prst="rect">
            <a:avLst/>
          </a:prstGeom>
          <a:solidFill>
            <a:srgbClr val="5B2C73"/>
          </a:solidFill>
        </p:spPr>
      </p:sp>
      <p:sp>
        <p:nvSpPr>
          <p:cNvPr id="15" name="Text 13"/>
          <p:cNvSpPr/>
          <p:nvPr/>
        </p:nvSpPr>
        <p:spPr>
          <a:xfrm>
            <a:off x="6236208" y="1353312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B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弟弟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36208" y="1755648"/>
            <a:ext cx="228600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D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创意点子 · 真机测试 · 找 Bug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6974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DC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816352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7D3C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怎么开发的 · 全家 AI 结对编程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200400"/>
            <a:ext cx="804672" cy="420624"/>
          </a:xfrm>
          <a:prstGeom prst="roundRect">
            <a:avLst>
              <a:gd name="adj" fmla="val 13043"/>
            </a:avLst>
          </a:prstGeom>
          <a:solidFill>
            <a:srgbClr val="F0E6F6"/>
          </a:solidFill>
        </p:spPr>
      </p:sp>
      <p:sp>
        <p:nvSpPr>
          <p:cNvPr id="20" name="Text 18"/>
          <p:cNvSpPr/>
          <p:nvPr/>
        </p:nvSpPr>
        <p:spPr>
          <a:xfrm>
            <a:off x="640080" y="3200400"/>
            <a:ext cx="804672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7D3C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孩子提需求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44752" y="3200400"/>
            <a:ext cx="1371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7D3C98"/>
                </a:solidFill>
              </a:rPr>
              <a:t>→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581912" y="3200400"/>
            <a:ext cx="804672" cy="420624"/>
          </a:xfrm>
          <a:prstGeom prst="roundRect">
            <a:avLst>
              <a:gd name="adj" fmla="val 13043"/>
            </a:avLst>
          </a:prstGeom>
          <a:solidFill>
            <a:srgbClr val="F0E6F6"/>
          </a:solidFill>
        </p:spPr>
      </p:sp>
      <p:sp>
        <p:nvSpPr>
          <p:cNvPr id="23" name="Text 21"/>
          <p:cNvSpPr/>
          <p:nvPr/>
        </p:nvSpPr>
        <p:spPr>
          <a:xfrm>
            <a:off x="1581912" y="3200400"/>
            <a:ext cx="804672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7D3C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写代码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386584" y="3200400"/>
            <a:ext cx="1371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7D3C98"/>
                </a:solidFill>
              </a:rPr>
              <a:t>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23744" y="3200400"/>
            <a:ext cx="804672" cy="420624"/>
          </a:xfrm>
          <a:prstGeom prst="roundRect">
            <a:avLst>
              <a:gd name="adj" fmla="val 13043"/>
            </a:avLst>
          </a:prstGeom>
          <a:solidFill>
            <a:srgbClr val="F0E6F6"/>
          </a:solidFill>
        </p:spPr>
      </p:sp>
      <p:sp>
        <p:nvSpPr>
          <p:cNvPr id="26" name="Text 24"/>
          <p:cNvSpPr/>
          <p:nvPr/>
        </p:nvSpPr>
        <p:spPr>
          <a:xfrm>
            <a:off x="2523744" y="3200400"/>
            <a:ext cx="804672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7D3C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全家 review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28416" y="3200400"/>
            <a:ext cx="1371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7D3C98"/>
                </a:solidFill>
              </a:rPr>
              <a:t>→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65576" y="3200400"/>
            <a:ext cx="804672" cy="420624"/>
          </a:xfrm>
          <a:prstGeom prst="roundRect">
            <a:avLst>
              <a:gd name="adj" fmla="val 13043"/>
            </a:avLst>
          </a:prstGeom>
          <a:solidFill>
            <a:srgbClr val="F0E6F6"/>
          </a:solidFill>
        </p:spPr>
      </p:sp>
      <p:sp>
        <p:nvSpPr>
          <p:cNvPr id="29" name="Text 27"/>
          <p:cNvSpPr/>
          <p:nvPr/>
        </p:nvSpPr>
        <p:spPr>
          <a:xfrm>
            <a:off x="3465576" y="3200400"/>
            <a:ext cx="804672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7D3C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真机验收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8368" y="372160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D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孩子学会提需求、验收和提问，爸爸把控架构与安全，AI 是全家的结对程序员。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269748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DC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281635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7D3C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学到了什么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92040" y="3172968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F7EFDC"/>
          </a:solidFill>
        </p:spPr>
      </p:sp>
      <p:sp>
        <p:nvSpPr>
          <p:cNvPr id="34" name="Text 32"/>
          <p:cNvSpPr/>
          <p:nvPr/>
        </p:nvSpPr>
        <p:spPr>
          <a:xfrm>
            <a:off x="4892040" y="3172968"/>
            <a:ext cx="1152144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D689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产品设计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35624" y="3172968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F0E6F6"/>
          </a:solidFill>
        </p:spPr>
      </p:sp>
      <p:sp>
        <p:nvSpPr>
          <p:cNvPr id="36" name="Text 34"/>
          <p:cNvSpPr/>
          <p:nvPr/>
        </p:nvSpPr>
        <p:spPr>
          <a:xfrm>
            <a:off x="6135624" y="3172968"/>
            <a:ext cx="1152144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7D3C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数据模型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379208" y="3172968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F7EFDC"/>
          </a:solidFill>
        </p:spPr>
      </p:sp>
      <p:sp>
        <p:nvSpPr>
          <p:cNvPr id="38" name="Text 36"/>
          <p:cNvSpPr/>
          <p:nvPr/>
        </p:nvSpPr>
        <p:spPr>
          <a:xfrm>
            <a:off x="7379208" y="3172968"/>
            <a:ext cx="1152144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D689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微信云开发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92040" y="3648456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F0E6F6"/>
          </a:solidFill>
        </p:spPr>
      </p:sp>
      <p:sp>
        <p:nvSpPr>
          <p:cNvPr id="40" name="Text 38"/>
          <p:cNvSpPr/>
          <p:nvPr/>
        </p:nvSpPr>
        <p:spPr>
          <a:xfrm>
            <a:off x="4892040" y="3648456"/>
            <a:ext cx="1152144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7D3C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隐私合规（个保法）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35624" y="3648456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F7EFDC"/>
          </a:solidFill>
        </p:spPr>
      </p:sp>
      <p:sp>
        <p:nvSpPr>
          <p:cNvPr id="42" name="Text 40"/>
          <p:cNvSpPr/>
          <p:nvPr/>
        </p:nvSpPr>
        <p:spPr>
          <a:xfrm>
            <a:off x="6135624" y="3648456"/>
            <a:ext cx="1152144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D689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调试排错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379208" y="3648456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F0E6F6"/>
          </a:solidFill>
        </p:spPr>
      </p:sp>
      <p:sp>
        <p:nvSpPr>
          <p:cNvPr id="44" name="Text 42"/>
          <p:cNvSpPr/>
          <p:nvPr/>
        </p:nvSpPr>
        <p:spPr>
          <a:xfrm>
            <a:off x="7379208" y="3648456"/>
            <a:ext cx="1152144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7D3C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真实工程流程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4315968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F0E6F6"/>
          </a:solidFill>
        </p:spPr>
      </p:sp>
      <p:sp>
        <p:nvSpPr>
          <p:cNvPr id="46" name="Text 44"/>
          <p:cNvSpPr/>
          <p:nvPr/>
        </p:nvSpPr>
        <p:spPr>
          <a:xfrm>
            <a:off x="685800" y="4315968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3C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汇报内容：</a:t>
            </a:r>
            <a:r>
              <a:rPr lang="en-US" sz="1050" dirty="0">
                <a:solidFill>
                  <a:srgbClr val="3B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应用场景  ·  功能简介  ·  两大核心功能  ·  技术开发方案  ·  创新点  ·  总结与展望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7D3C98"/>
          </a:solidFill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3B2A4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应用场景与解决的实际问题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2062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8DC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07899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D3C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痛点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76656" y="1517904"/>
            <a:ext cx="274320" cy="274320"/>
          </a:xfrm>
          <a:prstGeom prst="ellipse">
            <a:avLst/>
          </a:prstGeom>
          <a:solidFill>
            <a:srgbClr val="7D3C98"/>
          </a:solidFill>
        </p:spPr>
      </p:sp>
      <p:sp>
        <p:nvSpPr>
          <p:cNvPr id="7" name="Text 5"/>
          <p:cNvSpPr/>
          <p:nvPr/>
        </p:nvSpPr>
        <p:spPr>
          <a:xfrm>
            <a:off x="676656" y="151790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0704" y="1490472"/>
            <a:ext cx="3429000" cy="6035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B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纸质名片、群里换的名片，发完就过时，改了电话没人知道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76656" y="2176272"/>
            <a:ext cx="274320" cy="274320"/>
          </a:xfrm>
          <a:prstGeom prst="ellipse">
            <a:avLst/>
          </a:prstGeom>
          <a:solidFill>
            <a:srgbClr val="7D3C98"/>
          </a:solidFill>
        </p:spPr>
      </p:sp>
      <p:sp>
        <p:nvSpPr>
          <p:cNvPr id="10" name="Text 8"/>
          <p:cNvSpPr/>
          <p:nvPr/>
        </p:nvSpPr>
        <p:spPr>
          <a:xfrm>
            <a:off x="676656" y="21762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60704" y="2148840"/>
            <a:ext cx="3429000" cy="6035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B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群里刷屏换名片，存进通讯录后再也没更新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76656" y="2834640"/>
            <a:ext cx="274320" cy="274320"/>
          </a:xfrm>
          <a:prstGeom prst="ellipse">
            <a:avLst/>
          </a:prstGeom>
          <a:solidFill>
            <a:srgbClr val="7D3C98"/>
          </a:solidFill>
        </p:spPr>
      </p:sp>
      <p:sp>
        <p:nvSpPr>
          <p:cNvPr id="13" name="Text 11"/>
          <p:cNvSpPr/>
          <p:nvPr/>
        </p:nvSpPr>
        <p:spPr>
          <a:xfrm>
            <a:off x="676656" y="28346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60704" y="2807208"/>
            <a:ext cx="3429000" cy="6035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B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家人的电话、生日、称谓散落各处，长辈不用小程序，难维护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6656" y="3493008"/>
            <a:ext cx="274320" cy="274320"/>
          </a:xfrm>
          <a:prstGeom prst="ellipse">
            <a:avLst/>
          </a:prstGeom>
          <a:solidFill>
            <a:srgbClr val="7D3C98"/>
          </a:solidFill>
        </p:spPr>
      </p:sp>
      <p:sp>
        <p:nvSpPr>
          <p:cNvPr id="16" name="Text 14"/>
          <p:cNvSpPr/>
          <p:nvPr/>
        </p:nvSpPr>
        <p:spPr>
          <a:xfrm>
            <a:off x="676656" y="349300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60704" y="3465576"/>
            <a:ext cx="3429000" cy="6035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B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微信不开放通讯录与好友关系；《个保法》红线：不能替别人录入信息再送出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92040" y="960120"/>
            <a:ext cx="37947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8DC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93208" y="107899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D3C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应用场景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93208" y="1490472"/>
            <a:ext cx="3383280" cy="768096"/>
          </a:xfrm>
          <a:prstGeom prst="roundRect">
            <a:avLst>
              <a:gd name="adj" fmla="val 8333"/>
            </a:avLst>
          </a:prstGeom>
          <a:solidFill>
            <a:srgbClr val="F0E6F6"/>
          </a:solidFill>
        </p:spPr>
      </p:sp>
      <p:sp>
        <p:nvSpPr>
          <p:cNvPr id="21" name="Shape 19"/>
          <p:cNvSpPr/>
          <p:nvPr/>
        </p:nvSpPr>
        <p:spPr>
          <a:xfrm>
            <a:off x="5093208" y="1581912"/>
            <a:ext cx="54864" cy="585216"/>
          </a:xfrm>
          <a:prstGeom prst="rect">
            <a:avLst/>
          </a:prstGeom>
          <a:solidFill>
            <a:srgbClr val="7D3C98"/>
          </a:solidFill>
        </p:spPr>
      </p:sp>
      <p:sp>
        <p:nvSpPr>
          <p:cNvPr id="22" name="Text 20"/>
          <p:cNvSpPr/>
          <p:nvPr/>
        </p:nvSpPr>
        <p:spPr>
          <a:xfrm>
            <a:off x="5276088" y="156362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B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家庭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76088" y="187452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D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家族图谱，爷爷奶奶到孙子孙女一图看清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93208" y="2386584"/>
            <a:ext cx="3383280" cy="768096"/>
          </a:xfrm>
          <a:prstGeom prst="roundRect">
            <a:avLst>
              <a:gd name="adj" fmla="val 8333"/>
            </a:avLst>
          </a:prstGeom>
          <a:solidFill>
            <a:srgbClr val="F0E6F6"/>
          </a:solidFill>
        </p:spPr>
      </p:sp>
      <p:sp>
        <p:nvSpPr>
          <p:cNvPr id="25" name="Shape 23"/>
          <p:cNvSpPr/>
          <p:nvPr/>
        </p:nvSpPr>
        <p:spPr>
          <a:xfrm>
            <a:off x="5093208" y="2478024"/>
            <a:ext cx="54864" cy="585216"/>
          </a:xfrm>
          <a:prstGeom prst="rect">
            <a:avLst/>
          </a:prstGeom>
          <a:solidFill>
            <a:srgbClr val="5B2C73"/>
          </a:solidFill>
        </p:spPr>
      </p:sp>
      <p:sp>
        <p:nvSpPr>
          <p:cNvPr id="26" name="Text 24"/>
          <p:cNvSpPr/>
          <p:nvPr/>
        </p:nvSpPr>
        <p:spPr>
          <a:xfrm>
            <a:off x="5276088" y="245973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B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公司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76088" y="2770632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D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汇报关系树，职级关系一目了然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93208" y="3282696"/>
            <a:ext cx="3383280" cy="768096"/>
          </a:xfrm>
          <a:prstGeom prst="roundRect">
            <a:avLst>
              <a:gd name="adj" fmla="val 8333"/>
            </a:avLst>
          </a:prstGeom>
          <a:solidFill>
            <a:srgbClr val="F0E6F6"/>
          </a:solidFill>
        </p:spPr>
      </p:sp>
      <p:sp>
        <p:nvSpPr>
          <p:cNvPr id="29" name="Shape 27"/>
          <p:cNvSpPr/>
          <p:nvPr/>
        </p:nvSpPr>
        <p:spPr>
          <a:xfrm>
            <a:off x="5093208" y="3374136"/>
            <a:ext cx="54864" cy="585216"/>
          </a:xfrm>
          <a:prstGeom prst="rect">
            <a:avLst/>
          </a:prstGeom>
          <a:solidFill>
            <a:srgbClr val="D68910"/>
          </a:solidFill>
        </p:spPr>
      </p:sp>
      <p:sp>
        <p:nvSpPr>
          <p:cNvPr id="30" name="Text 28"/>
          <p:cNvSpPr/>
          <p:nvPr/>
        </p:nvSpPr>
        <p:spPr>
          <a:xfrm>
            <a:off x="5276088" y="335584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B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社团 / 客户圈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76088" y="3666744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D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自定义关系图谱，想画什么圈就画什么圈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4315968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7D3C98"/>
          </a:solidFill>
        </p:spPr>
      </p:sp>
      <p:sp>
        <p:nvSpPr>
          <p:cNvPr id="33" name="Text 31"/>
          <p:cNvSpPr/>
          <p:nvPr/>
        </p:nvSpPr>
        <p:spPr>
          <a:xfrm>
            <a:off x="685800" y="4315968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5C5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我们的答案：</a:t>
            </a: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活名片（分享即引用 · 永不过时）  +  关系图谱（把人和关系画出来）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7D3C98"/>
          </a:solidFill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3B2A4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功能简介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542032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8D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1247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7D3C98"/>
          </a:solidFill>
        </p:spPr>
      </p:sp>
      <p:sp>
        <p:nvSpPr>
          <p:cNvPr id="6" name="Text 4"/>
          <p:cNvSpPr/>
          <p:nvPr/>
        </p:nvSpPr>
        <p:spPr>
          <a:xfrm>
            <a:off x="621792" y="112471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4128" y="1124712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3B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一键授权建档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2212848" cy="49377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D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一键授权手机号，头像 / 昵称一键带入，30 秒建好名片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4680" y="960120"/>
            <a:ext cx="2542032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8DC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19272" y="11247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5B2C73"/>
          </a:solidFill>
        </p:spPr>
      </p:sp>
      <p:sp>
        <p:nvSpPr>
          <p:cNvPr id="11" name="Text 9"/>
          <p:cNvSpPr/>
          <p:nvPr/>
        </p:nvSpPr>
        <p:spPr>
          <a:xfrm>
            <a:off x="3319272" y="112471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21608" y="1124712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3B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名片管理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37560" y="1508760"/>
            <a:ext cx="2212848" cy="49377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D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输入即保存，风格模板，全字段展示；拨打、复制、搜索、排序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221992"/>
            <a:ext cx="2542032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8DC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23865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D68910"/>
          </a:solidFill>
        </p:spPr>
      </p:sp>
      <p:sp>
        <p:nvSpPr>
          <p:cNvPr id="16" name="Text 14"/>
          <p:cNvSpPr/>
          <p:nvPr/>
        </p:nvSpPr>
        <p:spPr>
          <a:xfrm>
            <a:off x="621792" y="238658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24128" y="2386584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3B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分享与互换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2770632"/>
            <a:ext cx="2212848" cy="49377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D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转发名片给好友，对方收下自动回赠，一次分享双向交换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54680" y="2221992"/>
            <a:ext cx="2542032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8DC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19272" y="23865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7D3C98"/>
          </a:solidFill>
        </p:spPr>
      </p:sp>
      <p:sp>
        <p:nvSpPr>
          <p:cNvPr id="21" name="Text 19"/>
          <p:cNvSpPr/>
          <p:nvPr/>
        </p:nvSpPr>
        <p:spPr>
          <a:xfrm>
            <a:off x="3319272" y="238658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21608" y="2386584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3B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活名片提醒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337560" y="2770632"/>
            <a:ext cx="2212848" cy="49377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D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对方改了信息，列表红点提示，点开即达最新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483864"/>
            <a:ext cx="2542032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8DC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" y="36484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5B2C73"/>
          </a:solidFill>
        </p:spPr>
      </p:sp>
      <p:sp>
        <p:nvSpPr>
          <p:cNvPr id="26" name="Text 24"/>
          <p:cNvSpPr/>
          <p:nvPr/>
        </p:nvSpPr>
        <p:spPr>
          <a:xfrm>
            <a:off x="621792" y="364845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24128" y="3648456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3B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关系图谱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4032504"/>
            <a:ext cx="2212848" cy="49377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D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家族 / 公司 / 自定义图谱，节点直接关联名片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54680" y="3483864"/>
            <a:ext cx="2542032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8DC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19272" y="36484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D68910"/>
          </a:solidFill>
        </p:spPr>
      </p:sp>
      <p:sp>
        <p:nvSpPr>
          <p:cNvPr id="31" name="Text 29"/>
          <p:cNvSpPr/>
          <p:nvPr/>
        </p:nvSpPr>
        <p:spPr>
          <a:xfrm>
            <a:off x="3319272" y="364845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21608" y="3648456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3B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个人中心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337560" y="4032504"/>
            <a:ext cx="2212848" cy="49377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D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我的名片 · 我的图谱 · 意见反馈 · 隐私保护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989320" y="960120"/>
            <a:ext cx="2697480" cy="35204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8DCEF"/>
            </a:solidFill>
            <a:prstDash val="solid"/>
          </a:ln>
        </p:spPr>
      </p:sp>
      <p:pic>
        <p:nvPicPr>
          <p:cNvPr id="35" name="Image 0" descr="d:/WXminiapp/miniapp02/docs/ppt-assets/shot-cards_1128x244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7137" y="1115568"/>
            <a:ext cx="1392702" cy="301752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5989320" y="4160520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D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名片列表 · 我的名片入口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7D3C98"/>
          </a:solidFill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3B2A4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两大核心功能：作品的心脏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160520" cy="37033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E8D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88136"/>
            <a:ext cx="73152" cy="3447288"/>
          </a:xfrm>
          <a:prstGeom prst="rect">
            <a:avLst/>
          </a:prstGeom>
          <a:solidFill>
            <a:srgbClr val="7D3C98"/>
          </a:solidFill>
        </p:spPr>
      </p:sp>
      <p:sp>
        <p:nvSpPr>
          <p:cNvPr id="6" name="Text 4"/>
          <p:cNvSpPr/>
          <p:nvPr/>
        </p:nvSpPr>
        <p:spPr>
          <a:xfrm>
            <a:off x="713232" y="1106424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7D3C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活名片 —— 「永不过时」的名片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9808" y="1563624"/>
            <a:ext cx="3611880" cy="475488"/>
          </a:xfrm>
          <a:prstGeom prst="roundRect">
            <a:avLst>
              <a:gd name="adj" fmla="val 13462"/>
            </a:avLst>
          </a:prstGeom>
          <a:solidFill>
            <a:srgbClr val="F0E6F6"/>
          </a:solidFill>
        </p:spPr>
      </p:sp>
      <p:sp>
        <p:nvSpPr>
          <p:cNvPr id="8" name="Text 6"/>
          <p:cNvSpPr/>
          <p:nvPr/>
        </p:nvSpPr>
        <p:spPr>
          <a:xfrm>
            <a:off x="877824" y="1563624"/>
            <a:ext cx="338328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7D3C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源卡片：名片只有一种，内容归账号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77440" y="2020824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7D3C98"/>
                </a:solidFill>
              </a:rPr>
              <a:t>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9808" y="2240280"/>
            <a:ext cx="3611880" cy="475488"/>
          </a:xfrm>
          <a:prstGeom prst="roundRect">
            <a:avLst>
              <a:gd name="adj" fmla="val 13462"/>
            </a:avLst>
          </a:prstGeom>
          <a:solidFill>
            <a:srgbClr val="F0E6F6"/>
          </a:solidFill>
        </p:spPr>
      </p:sp>
      <p:sp>
        <p:nvSpPr>
          <p:cNvPr id="11" name="Text 9"/>
          <p:cNvSpPr/>
          <p:nvPr/>
        </p:nvSpPr>
        <p:spPr>
          <a:xfrm>
            <a:off x="877824" y="2240280"/>
            <a:ext cx="338328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7D3C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分享 = 引用：不复制内容，只存 refCardId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77440" y="2697480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7D3C98"/>
                </a:solidFill>
              </a:rPr>
              <a:t>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" y="2916936"/>
            <a:ext cx="3611880" cy="475488"/>
          </a:xfrm>
          <a:prstGeom prst="roundRect">
            <a:avLst>
              <a:gd name="adj" fmla="val 13462"/>
            </a:avLst>
          </a:prstGeom>
          <a:solidFill>
            <a:srgbClr val="7D3C98"/>
          </a:solidFill>
        </p:spPr>
      </p:sp>
      <p:sp>
        <p:nvSpPr>
          <p:cNvPr id="14" name="Text 12"/>
          <p:cNvSpPr/>
          <p:nvPr/>
        </p:nvSpPr>
        <p:spPr>
          <a:xfrm>
            <a:off x="877824" y="2916936"/>
            <a:ext cx="338328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源卡更新 → 版本 +1 → 所有持有者自动同步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" y="3447288"/>
            <a:ext cx="3611880" cy="777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D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双态展示：本人是编辑态，对方是浏览态，可预览对方视角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D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更新红点：对方改了信息，列表红点提示，点开即达最新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" y="425196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i="1" dirty="0">
                <a:solidFill>
                  <a:srgbClr val="D689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改一个地方，所有人的通讯录同时更新——再也不用挨个通知换号码。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960120"/>
            <a:ext cx="3840480" cy="37033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E8DC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1088136"/>
            <a:ext cx="73152" cy="3447288"/>
          </a:xfrm>
          <a:prstGeom prst="rect">
            <a:avLst/>
          </a:prstGeom>
          <a:solidFill>
            <a:srgbClr val="D68910"/>
          </a:solidFill>
        </p:spPr>
      </p:sp>
      <p:sp>
        <p:nvSpPr>
          <p:cNvPr id="19" name="Text 17"/>
          <p:cNvSpPr/>
          <p:nvPr/>
        </p:nvSpPr>
        <p:spPr>
          <a:xfrm>
            <a:off x="5102352" y="1106424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D689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关系图谱 —— 把关系画出来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20640" y="1527048"/>
            <a:ext cx="3337560" cy="1600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D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自研 Canvas 力导向引擎：斥力 / 弹簧 / 向心 / 代际分层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D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手势全支持：平移、捏合缩放、拖节点、点详情、长按改关系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D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布局：家族放射树（以我为中心）· 公司汇报树（只显示职级）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D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称谓按图谱管理：同一人，家族是「弟弟」，公司是「实习生」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20640" y="3246120"/>
            <a:ext cx="3310128" cy="1298448"/>
          </a:xfrm>
          <a:prstGeom prst="roundRect">
            <a:avLst>
              <a:gd name="adj" fmla="val 4930"/>
            </a:avLst>
          </a:prstGeom>
          <a:solidFill>
            <a:srgbClr val="FAF6FC"/>
          </a:solidFill>
        </p:spPr>
      </p:sp>
      <p:pic>
        <p:nvPicPr>
          <p:cNvPr id="22" name="Image 0" descr="d:/WXminiapp/miniapp02/docs/ppt-assets/shot-company-graph_1128x244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3129" y="3319272"/>
            <a:ext cx="531759" cy="115214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446520" y="350215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3B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远航科技 · 公司汇报关系树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446520" y="3813048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D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手机上拖得动、玩得起来的关系网络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7D3C98"/>
          </a:solidFill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3B2A4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技术开发方案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669280" cy="603504"/>
          </a:xfrm>
          <a:prstGeom prst="roundRect">
            <a:avLst>
              <a:gd name="adj" fmla="val 12121"/>
            </a:avLst>
          </a:prstGeom>
          <a:solidFill>
            <a:srgbClr val="7D3C98"/>
          </a:solidFill>
        </p:spPr>
      </p:sp>
      <p:sp>
        <p:nvSpPr>
          <p:cNvPr id="5" name="Text 3"/>
          <p:cNvSpPr/>
          <p:nvPr/>
        </p:nvSpPr>
        <p:spPr>
          <a:xfrm>
            <a:off x="640080" y="1005840"/>
            <a:ext cx="5303520" cy="6035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 · Taro 4 + React 18 + TypeScript + Sass（一次开发，编译为微信小程序）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108960" y="1627632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7D3C98"/>
                </a:solidFill>
              </a:rPr>
              <a:t>↓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01952"/>
            <a:ext cx="5669280" cy="1188720"/>
          </a:xfrm>
          <a:prstGeom prst="roundRect">
            <a:avLst>
              <a:gd name="adj" fmla="val 6154"/>
            </a:avLst>
          </a:prstGeom>
          <a:solidFill>
            <a:srgbClr val="F0E6F6"/>
          </a:solidFill>
        </p:spPr>
      </p:sp>
      <p:sp>
        <p:nvSpPr>
          <p:cNvPr id="8" name="Text 6"/>
          <p:cNvSpPr/>
          <p:nvPr/>
        </p:nvSpPr>
        <p:spPr>
          <a:xfrm>
            <a:off x="640080" y="1975104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7D3C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 · 微信云开发 CloudBase（免自建服务器）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" y="2322576"/>
            <a:ext cx="126187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4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322576"/>
            <a:ext cx="1261872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B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login 登录与数据归属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993392" y="2322576"/>
            <a:ext cx="126187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4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3392" y="2322576"/>
            <a:ext cx="1261872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B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getCard 活名片读取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64992" y="2322576"/>
            <a:ext cx="126187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4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2322576"/>
            <a:ext cx="1261872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B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getPhoneNumber 手机号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36592" y="2322576"/>
            <a:ext cx="126187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4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2322576"/>
            <a:ext cx="1261872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B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seed 测试数据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108960" y="310896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7D3C98"/>
                </a:solidFill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8DC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47472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3B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云数据库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" y="3749040"/>
            <a:ext cx="246888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cards / graphs / nodes / edges / users，openId 归属隔离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383280" y="338328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8DC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47872" y="347472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3B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云存储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47872" y="3749040"/>
            <a:ext cx="246888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头像、照片统一存云端 fileID，全端可访问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355080" y="1005840"/>
            <a:ext cx="2331720" cy="32461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8DC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1124712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7D3C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关键技术点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37960" y="1463040"/>
            <a:ext cx="1965960" cy="2651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6D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自研 Canvas 2d 力导向引擎</a:t>
            </a:r>
            <a:endParaRPr lang="en-US" sz="9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6D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refCardId 引用同步机制</a:t>
            </a:r>
            <a:endParaRPr lang="en-US" sz="9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6D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名片互换幂等设计</a:t>
            </a:r>
            <a:endParaRPr lang="en-US" sz="9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6D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先落云端再写本地，杜绝假持久化</a:t>
            </a:r>
            <a:endParaRPr lang="en-US" sz="9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6D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辅助开发 + 真机验收清单 + 调试日志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7D3C98"/>
          </a:solidFill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3B2A4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创新点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7764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8DC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152144"/>
            <a:ext cx="77724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7D3C9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63040" y="1207008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B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活名片机制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6656" y="1783080"/>
            <a:ext cx="3566160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D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分享即引用、改一处全员同步——名片从「一次性纸片」变成「持续在线的服务」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397764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8DC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152144"/>
            <a:ext cx="77724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5B2C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715000" y="1207008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B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图谱群裂变（合规设计）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28616" y="1783080"/>
            <a:ext cx="3566160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D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图谱分享到群 → 成员认领自己的名片 → 授权后互换；坚持「认领 + 授权」，不替别人录入信息，符合《个保法》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852928"/>
            <a:ext cx="397764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8DC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999232"/>
            <a:ext cx="77724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D6891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63040" y="3054096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B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自研力导向关系图谱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6656" y="3630168"/>
            <a:ext cx="3566160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D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纯 Canvas 引擎 + 家族放射树 / 公司汇报树布局，手机上拖得动、玩得起来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852928"/>
            <a:ext cx="397764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8DC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2999232"/>
            <a:ext cx="77724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8E44A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715000" y="3054096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B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全家 AI 结对开发模式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28616" y="3630168"/>
            <a:ext cx="3566160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D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爸爸定架构、孩子提需求做验收、AI 写代码——把学 AI 落到一个真正上线的作品上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23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274320"/>
            <a:ext cx="3108960" cy="4572000"/>
          </a:xfrm>
          <a:prstGeom prst="roundRect">
            <a:avLst>
              <a:gd name="adj" fmla="val 5882"/>
            </a:avLst>
          </a:prstGeom>
          <a:solidFill>
            <a:srgbClr val="7D3C98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5257800" y="4206240"/>
            <a:ext cx="822960" cy="822960"/>
          </a:xfrm>
          <a:prstGeom prst="ellipse">
            <a:avLst/>
          </a:prstGeom>
          <a:solidFill>
            <a:srgbClr val="7D3C98">
              <a:alpha val="32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640080" y="457200"/>
            <a:ext cx="5303520" cy="6035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kern="0" spc="15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总结与展望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115568"/>
            <a:ext cx="1097280" cy="54864"/>
          </a:xfrm>
          <a:prstGeom prst="rect">
            <a:avLst/>
          </a:prstGeom>
          <a:solidFill>
            <a:srgbClr val="F5C56B"/>
          </a:solidFill>
        </p:spPr>
      </p:sp>
      <p:sp>
        <p:nvSpPr>
          <p:cNvPr id="6" name="Text 4"/>
          <p:cNvSpPr/>
          <p:nvPr/>
        </p:nvSpPr>
        <p:spPr>
          <a:xfrm>
            <a:off x="640080" y="1371600"/>
            <a:ext cx="50292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4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从一张名片出发，做成「活名片 + 关系图谱」的完整闭环；全家在一次真实的开发中学完了 AI 协作的全流程。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56895" y="277545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感谢评委与比赛平台 · 欢迎体验《名片图谱》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6895" y="3224403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E4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 · 极星智能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502920"/>
            <a:ext cx="2560320" cy="416052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</p:spPr>
      </p:sp>
      <p:pic>
        <p:nvPicPr>
          <p:cNvPr id="17" name="Image 0" descr="d:/WXminiapp/miniapp02/docs/ppt-assets/shot-mine_1128x244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8849" y="658368"/>
            <a:ext cx="1667022" cy="36118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72200" y="431596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E4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个人中心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1775</Words>
  <Application>WPS 演示</Application>
  <PresentationFormat>On-screen Show (16:9)</PresentationFormat>
  <Paragraphs>240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微软雅黑</vt:lpstr>
      <vt:lpstr>宋体</vt:lpstr>
      <vt:lpstr>Arial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花猫</cp:lastModifiedBy>
  <cp:revision>2</cp:revision>
  <dcterms:created xsi:type="dcterms:W3CDTF">2026-10-17T10:18:00Z</dcterms:created>
  <dcterms:modified xsi:type="dcterms:W3CDTF">2026-10-17T10:23:45Z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C15ED69068194353AD55DDDFF337C942_12</vt:lpwstr>
  </property>
</Properties>
</file>